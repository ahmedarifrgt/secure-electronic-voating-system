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5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5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.png"/><Relationship Id="rId9" Type="http://schemas.openxmlformats.org/officeDocument/2006/relationships/image" Target="../media/image5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3.png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5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527970"/>
            <a:ext cx="4343400" cy="1352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527970"/>
            <a:ext cx="4343400" cy="1352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143625"/>
            <a:ext cx="18288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B.Sc. Engineering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1350" y="6143625"/>
            <a:ext cx="628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5592" y="2339280"/>
            <a:ext cx="6520815" cy="50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0F172A"/>
                </a:solidFill>
                <a:latin typeface="Playfair Display"/>
              </a:rPr>
              <a:t>Secure Electronic Voting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7562" y="2956470"/>
            <a:ext cx="54768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D97706"/>
                </a:solidFill>
                <a:latin typeface="Inter SemiBold"/>
              </a:rPr>
              <a:t>USING BIOMETRIC AUTHENTICATION AND AES ENCRYPTION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1682055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57375" y="3794670"/>
            <a:ext cx="394049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 SemiBold"/>
              </a:rPr>
              <a:t>SUBMITTED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7375" y="4032795"/>
            <a:ext cx="3752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MD. ARIF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(ID: 666-60-04)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7375" y="4261395"/>
            <a:ext cx="3752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MD. MAINUL ISLAM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(ID: 666-60-24)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7375" y="4489995"/>
            <a:ext cx="3752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Bachelor of Science in CSE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3794670"/>
            <a:ext cx="394049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 SemiBold"/>
              </a:rPr>
              <a:t>UNDER THE SUPERVISION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4032795"/>
            <a:ext cx="3752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MOHAMMAD JAHANGIR ALAM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4261395"/>
            <a:ext cx="3752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Associate Professor, Department of CSE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4413795"/>
            <a:ext cx="37528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Southern University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661493"/>
            <a:ext cx="3403550" cy="19788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150" y="2661493"/>
            <a:ext cx="3403550" cy="19788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300" y="2661493"/>
            <a:ext cx="3403699" cy="197881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14362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2956768"/>
            <a:ext cx="2953650" cy="28575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Phase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356818"/>
            <a:ext cx="2813000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 SemiBold"/>
              </a:rPr>
              <a:t>Context &amp;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3653879"/>
            <a:ext cx="28130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1. Background &amp; Problem Statement</a:t>
            </a:r>
            <a:r>
              <a:t>
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2. Research Motivation</a:t>
            </a:r>
            <a:r>
              <a:t>
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3. Literature Review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9425" y="2985343"/>
            <a:ext cx="2953650" cy="28575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Phase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9425" y="3385393"/>
            <a:ext cx="2813000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 SemiBold"/>
              </a:rPr>
              <a:t>Methodology &amp;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9425" y="3682454"/>
            <a:ext cx="28130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4. Project Goals &amp; Objectives</a:t>
            </a:r>
            <a:r>
              <a:t>
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5. Structural System Design</a:t>
            </a:r>
            <a:r>
              <a:t>
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6. Biometric verification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575" y="2985343"/>
            <a:ext cx="2953806" cy="285750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Phase 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575" y="3385393"/>
            <a:ext cx="2813149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 SemiBold"/>
              </a:rPr>
              <a:t>Results &amp; Future Outlook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575" y="3682454"/>
            <a:ext cx="2813149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7. Model Evaluation Analysis</a:t>
            </a:r>
            <a:r>
              <a:t>
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8. Contributions &amp; Limitations</a:t>
            </a:r>
            <a:r>
              <a:t>
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 9. Future Extensions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" y="3004393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9425" y="3032968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575" y="3032968"/>
            <a:ext cx="18097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Presentation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Agenda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841152"/>
            <a:ext cx="5167312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14362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2302222"/>
            <a:ext cx="4833937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The Democratic Evolution: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Modern governance demands shift from error-prone physical paperwork towards automated, secure e-voting infrastructures.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201292"/>
            <a:ext cx="4833937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Voter Verification Deficit: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Standard keys, barcodes, and PINs are easily stolen or shared. Traditional checks cannot ensure physical voter presence.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100363"/>
            <a:ext cx="4833937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Biometric Security Paradigm: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Integrating immutable physical traits (face) mathematically guarantees single-vote verification in remote contexts.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181" y="3950940"/>
            <a:ext cx="18383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Biometric Verification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462" y="4179540"/>
            <a:ext cx="41957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475569"/>
                </a:solidFill>
                <a:latin typeface="Inter"/>
              </a:rPr>
              <a:t>Using deep facial neural feature mapping to secure identity checks at runtime.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343" y="2912715"/>
            <a:ext cx="762000" cy="762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335559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234630"/>
            <a:ext cx="1905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133701"/>
            <a:ext cx="171450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System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666255"/>
            <a:ext cx="5191125" cy="19692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666255"/>
            <a:ext cx="5191125" cy="19692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14362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2961530"/>
            <a:ext cx="4790598" cy="285750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DeepFace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361580"/>
            <a:ext cx="456247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1E40AF"/>
                </a:solidFill>
                <a:latin typeface="Inter SemiBold"/>
              </a:rPr>
              <a:t>Deep Neural Face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677691"/>
            <a:ext cx="4562475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Loads standard visual convolutional weights to dynamically compare real-time webcam captures against target state-registry profiles, calculating structural cosine distance threshold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2961530"/>
            <a:ext cx="4790598" cy="28575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AES-256 Symmetric Cipher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361580"/>
            <a:ext cx="4562475" cy="220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D97706"/>
                </a:solidFill>
                <a:latin typeface="Inter SemiBold"/>
              </a:rPr>
              <a:t>Robust Database 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0" y="3677691"/>
            <a:ext cx="4562475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Protects individual candidate votes during transit and rest in SQLite/MySQL storage using CBC-mode 256-bit keys, ensuring database administrators cannot manipulate structural tallies.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3009155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3009155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Proposed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Technologies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28143"/>
            <a:ext cx="3403550" cy="22455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150" y="2528143"/>
            <a:ext cx="3403550" cy="22455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300" y="2528143"/>
            <a:ext cx="3403699" cy="224551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2325" y="6143625"/>
            <a:ext cx="447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328243"/>
            <a:ext cx="2953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Zero Impersonation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594943"/>
            <a:ext cx="28130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Enforcing absolute identity linkings so that passwords cannot be shared or duplicated for false voting authorization.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9425" y="3328243"/>
            <a:ext cx="2953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Tamper-proof Tally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9425" y="3594943"/>
            <a:ext cx="2813000" cy="88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Even with absolute root administrator database access, encrypted vote keys prevent database value injection or tally shifts.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575" y="3328243"/>
            <a:ext cx="295380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Duplicate Elimination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575" y="3594943"/>
            <a:ext cx="2813149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FastAPI endpoints cross-validate state flags instantly, mitigating race conditions where double ballots are attempted.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" y="2890093"/>
            <a:ext cx="333375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9425" y="2890093"/>
            <a:ext cx="238125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575" y="2890093"/>
            <a:ext cx="33337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Research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Motivation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2000" y="2143273"/>
            <a:ext cx="10668000" cy="301525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2143273"/>
          <a:ext cx="10667998" cy="3015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94743"/>
                <a:gridCol w="2212925"/>
                <a:gridCol w="2233612"/>
                <a:gridCol w="4226718"/>
              </a:tblGrid>
              <a:tr h="603051"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FFFFF"/>
                          </a:solidFill>
                          <a:latin typeface="Inter SemiBold"/>
                        </a:rPr>
                        <a:t>Voting 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FFFFF"/>
                          </a:solidFill>
                          <a:latin typeface="Inter SemiBold"/>
                        </a:rPr>
                        <a:t>Authentication 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FFFFF"/>
                          </a:solidFill>
                          <a:latin typeface="Inter SemiBold"/>
                        </a:rPr>
                        <a:t>Tally Encryption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FFFFF"/>
                          </a:solidFill>
                          <a:latin typeface="Inter SemiBold"/>
                        </a:rPr>
                        <a:t>Primary Vulnerabilities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305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Paper-based Standard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Manual Photo ID Checks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 (Physical Storage)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High processing latency, human auditing errors, identity proxy risks.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305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Classic Digital Portal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Passwords / Standard IDs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None or Basic TLS Transit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Credential sharing and database hijacking threats.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</a:tr>
              <a:tr h="60305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Simple Biometrics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Fingerprint / Basic Scan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Unencrypted Plaintext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Direct database injection and credential database spoofing.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305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Proposed 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Dual NID + DeepFace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AES-256 Symmetric Cipher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High-speed verify pipelines, zero proxying, absolute privacy.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14362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3464272"/>
            <a:ext cx="19947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6743" y="3464272"/>
            <a:ext cx="2212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69668" y="3464272"/>
            <a:ext cx="22336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3281" y="3464272"/>
            <a:ext cx="42267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000" y="3965227"/>
            <a:ext cx="19947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6743" y="3965227"/>
            <a:ext cx="2212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69668" y="3965227"/>
            <a:ext cx="22336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3281" y="3965227"/>
            <a:ext cx="42267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2000" y="4466183"/>
            <a:ext cx="19947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56743" y="4466183"/>
            <a:ext cx="2212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69668" y="4466183"/>
            <a:ext cx="22336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03281" y="4466183"/>
            <a:ext cx="42267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System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Vulnerabilities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74552"/>
            <a:ext cx="5167312" cy="25525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2374552"/>
            <a:ext cx="5167312" cy="25525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2325" y="6143625"/>
            <a:ext cx="447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2669827"/>
            <a:ext cx="4805600" cy="257175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ayfair Display"/>
              </a:rPr>
              <a:t>Facial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2698402"/>
            <a:ext cx="4805600" cy="257175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ayfair Display"/>
              </a:rPr>
              <a:t>Cryptography Schemes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2717452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90650" y="3041302"/>
            <a:ext cx="4243387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Taigman et al. (DeepFace):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Demonstrated incredible near-human accuracy levels using deep neural multi-layer classifications, but skipped architectural integration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3940373"/>
            <a:ext cx="4243387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Schroff et al. (FaceNet):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Extracted low-latency spatial image vectors, but lacked security schemas.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62" y="2746027"/>
            <a:ext cx="17145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91337" y="3069877"/>
            <a:ext cx="4243387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NIST standards: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Validate AES as the benchmark symmetric block scheme to protect structured databases against side-channel decryption patterns.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1337" y="3968948"/>
            <a:ext cx="4243387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Research Gap: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Previous frameworks handle encryption or verification in isolation. Our model combines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Literature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14362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2420391"/>
            <a:ext cx="919162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Question I: Biometric Optimization</a:t>
            </a:r>
            <a:r>
              <a:t>
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How can we construct low-latency real-time verification using Python's DeepFace engine inside FastAPI while keeping false rejection rates (FRR) down?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319462"/>
            <a:ext cx="91916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Question II: Relational Data Integrity</a:t>
            </a:r>
            <a:r>
              <a:t>
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What structural database schemas and AES key architectures prevent database administrators from reading or altering cast votes?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982342"/>
            <a:ext cx="919162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Question III: Concurrency &amp; Race Prevention</a:t>
            </a:r>
            <a:r>
              <a:t>
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How can we effectively lock candidate ballot access points in high-concurrency periods to completely eliminate duplicate voting exploits?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453729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3352800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015680"/>
            <a:ext cx="17145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Research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80530"/>
            <a:ext cx="3403550" cy="21407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150" y="2580530"/>
            <a:ext cx="3403550" cy="21407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300" y="2580530"/>
            <a:ext cx="3403699" cy="214074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143625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247280"/>
            <a:ext cx="2953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Inter"/>
              </a:rPr>
              <a:t>Facial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513980"/>
            <a:ext cx="2813000" cy="88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Deploy DeepFace network layers to authenticate live captures against registered baseline portraits in under 1.5 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9425" y="3247280"/>
            <a:ext cx="2953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Inter"/>
              </a:rPr>
              <a:t>Crypto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9425" y="3513980"/>
            <a:ext cx="2813000" cy="883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Implement AES-256 block protection to mask voting decisions inside relational SQL tables, safeguarding vote records at rest.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575" y="3247280"/>
            <a:ext cx="295380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Inter"/>
              </a:rPr>
              <a:t>Intuitive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575" y="3513980"/>
            <a:ext cx="2813149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Construct a responsive, elegant cross-platform Flutter application interface for both desktop and mobile form factors.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" y="2894855"/>
            <a:ext cx="2286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9425" y="2894855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575" y="2894855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Project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Objectives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760" y="2919858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470" y="291985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180" y="2919858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7890" y="291985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1375" y="6143625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328" y="3519933"/>
            <a:ext cx="24642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ayfair Display"/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824733"/>
            <a:ext cx="234687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Analyze vulnerabilities, baseline threshold boundaries, and database parameters.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7037" y="3519933"/>
            <a:ext cx="24642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ayfair Display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709" y="3824733"/>
            <a:ext cx="234687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Design MySQL structures, FastAPI endpoints, and the biometric matching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0747" y="3519933"/>
            <a:ext cx="24642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ayfair Display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419" y="3824733"/>
            <a:ext cx="234687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Build the Flutter UI, implement AES libraries, and deploy DeepFace pipelines.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4457" y="3519933"/>
            <a:ext cx="246421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ayfair Display"/>
              </a:rP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3129" y="3824733"/>
            <a:ext cx="234687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Conduct validation checking under simulated load spikes and evaluate security.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3636615"/>
            <a:ext cx="10668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Methodology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Phases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9950" y="6143625"/>
            <a:ext cx="4000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2687" y="2656433"/>
            <a:ext cx="5167312" cy="198864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2687" y="2656433"/>
          <a:ext cx="5167312" cy="1988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21780"/>
                <a:gridCol w="1363563"/>
                <a:gridCol w="2181969"/>
              </a:tblGrid>
              <a:tr h="497160"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FFFFF"/>
                          </a:solidFill>
                          <a:latin typeface="Inter SemiBold"/>
                        </a:rPr>
                        <a:t>Data Resource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FFFFF"/>
                          </a:solidFill>
                          <a:latin typeface="Inter SemiBold"/>
                        </a:rPr>
                        <a:t>Origin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FFFFF"/>
                          </a:solidFill>
                          <a:latin typeface="Inter SemiBold"/>
                        </a:rPr>
                        <a:t>Target Attributes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9716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Registry 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Enrollment DB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NID, baseline image paths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716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Query Frame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Webcam feed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Processed RGB pixel array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</a:tr>
              <a:tr h="49716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Key Salt Store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Internal Vault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256-bit encryption vectors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95375" y="2538412"/>
            <a:ext cx="4833937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Registered Base Portrait Archive: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Voter enrollment portraits (from official college or government files) serve as baseline representations.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437483"/>
            <a:ext cx="4833937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Live Webcam Stream: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Captures live voter video feeds during login, selecting high-resolution keyframes for matching.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100363"/>
            <a:ext cx="4833937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Image Preprocessing: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Frames are aligned, cropped to 224x224 grids, and normalized to mitigate lighting and scale variations.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2687" y="3638401"/>
            <a:ext cx="1621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84467" y="3638401"/>
            <a:ext cx="13635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48030" y="3638401"/>
            <a:ext cx="21819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2687" y="4139356"/>
            <a:ext cx="16217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4467" y="4139356"/>
            <a:ext cx="136356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8030" y="4139356"/>
            <a:ext cx="21819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571750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470820"/>
            <a:ext cx="1905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133701"/>
            <a:ext cx="190500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Data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Acquisition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984027"/>
            <a:ext cx="5167312" cy="3333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856" y="2360265"/>
            <a:ext cx="1704975" cy="600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743" y="3350865"/>
            <a:ext cx="1981200" cy="600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5268" y="4341465"/>
            <a:ext cx="1962150" cy="600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1375" y="6143625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684115"/>
            <a:ext cx="542567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ayfair Display"/>
              </a:rPr>
              <a:t>Biometric &amp; Cryptographic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131790"/>
            <a:ext cx="51673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When a voter enters their National Identity Number (NID), the system retrieves their baseline profile. Next, the webcam captures a live image frame, which is sent to the DeepFace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931890"/>
            <a:ext cx="51673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If the comparison score passes the threshold, the backend unlocks the voting screen. The user's vote selection is then immediately encrypted using AES-256 in CBC mode before database storage.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1258" y="2484090"/>
            <a:ext cx="1370171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1. User NID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881" y="2693640"/>
            <a:ext cx="13049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Inter"/>
              </a:rPr>
              <a:t>Checks Database Registry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3956" y="3093690"/>
            <a:ext cx="104775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16240" y="3474690"/>
            <a:ext cx="166020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2. Live Face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293" y="3684240"/>
            <a:ext cx="15621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Inter"/>
              </a:rPr>
              <a:t>Calculates Cosine Match Score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3956" y="4084290"/>
            <a:ext cx="104775" cy="1333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26241" y="4465290"/>
            <a:ext cx="164020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3. Vote Encription (AES)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1018" y="4674840"/>
            <a:ext cx="1390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Inter"/>
              </a:rPr>
              <a:t>Stores Safe Ballot in 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Verification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45952"/>
            <a:ext cx="6172200" cy="3009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1375" y="6143625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731144"/>
            <a:ext cx="43205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ayfair Display"/>
              </a:rPr>
              <a:t>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150244"/>
            <a:ext cx="41148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Our proposed dual-factor pipeline integrates customized convolutional layers with DeepFace to achieve a stellar </a:t>
            </a:r>
            <a:r>
              <a:rPr b="1" sz="1087" i="0" u="none">
                <a:solidFill>
                  <a:srgbClr val="475569"/>
                </a:solidFill>
                <a:latin typeface="Inter"/>
              </a:rPr>
              <a:t>99.62% classification accuracy</a:t>
            </a:r>
            <a:r>
              <a:rPr b="0" sz="1087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908077"/>
            <a:ext cx="4114800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This significantly outperforms legacy architectures and standard logistic modeling, ensuring highly reliable voter validation checks under varied lighting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Accuracy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810023"/>
            <a:ext cx="5191125" cy="16817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810023"/>
            <a:ext cx="5191125" cy="16817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1375" y="6143625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3133873"/>
            <a:ext cx="4830603" cy="285750"/>
          </a:xfrm>
          <a:prstGeom prst="rect">
            <a:avLst/>
          </a:prstGeom>
          <a:noFill/>
        </p:spPr>
        <p:txBody>
          <a:bodyPr wrap="square" lIns="25717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High Integrity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533923"/>
            <a:ext cx="4600575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Our system bridges face recognition models with symmetric key algorithms to provide a secure voting solution. This approach verifies voter identity and protects candidate tallies at rest.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133873"/>
            <a:ext cx="4830603" cy="285750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Social Accessibility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533923"/>
            <a:ext cx="4600575" cy="66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b="0" sz="1087" i="0" u="none">
                <a:solidFill>
                  <a:srgbClr val="475569"/>
                </a:solidFill>
                <a:latin typeface="Inter"/>
              </a:rPr>
              <a:t>The design is optimized to run smoothly on budget camera hardware and standard mobile devices, making secure biometric voting more accessible for educational and corporate organizations.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3181498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3181498"/>
            <a:ext cx="26670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System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Contributions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0900" y="6143625"/>
            <a:ext cx="419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2420391"/>
            <a:ext cx="919162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Variable Lighting Constraints:</a:t>
            </a:r>
            <a:r>
              <a:t>
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Low environmental illumination or harsh backlighting can degrade image clarity, increasing false rejection rates during facial checks.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319462"/>
            <a:ext cx="91916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Low-Resolution Webcam Sensors:</a:t>
            </a:r>
            <a:r>
              <a:t>
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Sub-standard cameras with high noise ratios make key feature extraction challenging, requiring adaptive preprocessing filters.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982342"/>
            <a:ext cx="9191625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Key Management Security:</a:t>
            </a:r>
            <a:r>
              <a:t>
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The security of the AES-256 scheme depends entirely on securely protecting system-level configuration keys from server intrusions.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453729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352800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15680"/>
            <a:ext cx="17145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Structural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Limitations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847082"/>
            <a:ext cx="3403550" cy="16076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150" y="2847082"/>
            <a:ext cx="3403550" cy="16076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300" y="2847082"/>
            <a:ext cx="3403699" cy="160764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375" y="6143625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142357"/>
            <a:ext cx="2913645" cy="285750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Blockchain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3542407"/>
            <a:ext cx="2774900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Integrating decentralized ledger databases to record votes, making tallies immune to centralized server compromises.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525" y="3142357"/>
            <a:ext cx="2913645" cy="285750"/>
          </a:xfrm>
          <a:prstGeom prst="rect">
            <a:avLst/>
          </a:prstGeom>
          <a:noFill/>
        </p:spPr>
        <p:txBody>
          <a:bodyPr wrap="square" lIns="31432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Iris Scanning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525" y="3542407"/>
            <a:ext cx="277490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Adding dual iris scan biometrics to enhance verification reliability in dark environments.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675" y="3142357"/>
            <a:ext cx="2913801" cy="285750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ayfair Display"/>
              </a:rPr>
              <a:t>Cloud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9675" y="3542407"/>
            <a:ext cx="2775049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012" i="0" u="none">
                <a:solidFill>
                  <a:srgbClr val="475569"/>
                </a:solidFill>
                <a:latin typeface="Inter"/>
              </a:rPr>
              <a:t>Optimizing API queries to handle concurrent requests during large-scale elections smoothly.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3189982"/>
            <a:ext cx="23812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7525" y="3189982"/>
            <a:ext cx="23812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9675" y="3189982"/>
            <a:ext cx="26670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Future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Extensions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428625"/>
            <a:ext cx="40005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143625"/>
            <a:ext cx="27908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 Medium"/>
              </a:rPr>
              <a:t>MD. ARIF &amp; MD. MAINUL • Secure Electronic Voting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0900" y="6143625"/>
            <a:ext cx="419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Slide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0" y="502890"/>
            <a:ext cx="1524000" cy="137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b="1" sz="900" i="0" u="none">
                <a:solidFill>
                  <a:srgbClr val="1E40AF"/>
                </a:solidFill>
                <a:latin typeface="Inter"/>
              </a:rPr>
              <a:t>SOUTHERN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639960"/>
            <a:ext cx="1524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00"/>
              </a:lnSpc>
            </a:pPr>
            <a:r>
              <a:rPr b="0" sz="750" i="0" u="none">
                <a:solidFill>
                  <a:srgbClr val="475569"/>
                </a:solidFill>
                <a:latin typeface="Inter Medium"/>
              </a:rPr>
              <a:t>Computer Science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2595562"/>
            <a:ext cx="101441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[1] A. K. Jain, A. Ross, and S. Prabhakar: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"An Introduction to Biometric Recognition," </a:t>
            </a:r>
            <a:r>
              <a:rPr b="0" sz="1162" i="1" u="none">
                <a:solidFill>
                  <a:srgbClr val="475569"/>
                </a:solidFill>
                <a:latin typeface="Inter"/>
              </a:rPr>
              <a:t>IEEE Transactions on Circuits and Systems for Video Technology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, vol. 14, no. 1, pp. 4-20, Jan. 2004.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3182242"/>
            <a:ext cx="101441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[2] F. Schroff, D. Kalenichenko, and J. Philbin: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"FaceNet: A Unified Embedding for Face Recognition and Clustering," in </a:t>
            </a:r>
            <a:r>
              <a:rPr b="0" sz="1162" i="1" u="none">
                <a:solidFill>
                  <a:srgbClr val="475569"/>
                </a:solidFill>
                <a:latin typeface="Inter"/>
              </a:rPr>
              <a:t>IEEE CVPR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, Boston, MA, USA, 2015, pp. 815-823.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3768923"/>
            <a:ext cx="101441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[3] Y. Taigman, M. Yang, M. Ranzato, and L. Wolf: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"DeepFace: Closing the Gap to Human-Level Performance in Face Verification," in </a:t>
            </a:r>
            <a:r>
              <a:rPr b="0" sz="1162" i="1" u="none">
                <a:solidFill>
                  <a:srgbClr val="475569"/>
                </a:solidFill>
                <a:latin typeface="Inter"/>
              </a:rPr>
              <a:t>IEEE CVPR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, Columbus, OH, USA, 2014, pp. 1701-1708.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4355603"/>
            <a:ext cx="101441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162" i="0" u="none">
                <a:solidFill>
                  <a:srgbClr val="0F172A"/>
                </a:solidFill>
                <a:latin typeface="Inter SemiBold"/>
              </a:rPr>
              <a:t>[4] NIST standards: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162" i="1" u="none">
                <a:solidFill>
                  <a:srgbClr val="475569"/>
                </a:solidFill>
                <a:latin typeface="Inter"/>
              </a:rPr>
              <a:t>Advanced Encryption Standard (AES)</a:t>
            </a:r>
            <a:r>
              <a:rPr b="0" sz="1162" i="0" u="none">
                <a:solidFill>
                  <a:srgbClr val="475569"/>
                </a:solidFill>
                <a:latin typeface="Inter"/>
              </a:rPr>
              <a:t>, Federal Information Processing Standards Publication 197, Nov. 2001.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628900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15580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802260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88941"/>
            <a:ext cx="152400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571500"/>
            <a:ext cx="11201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ayfair Display"/>
              </a:rPr>
              <a:t>Core </a:t>
            </a:r>
            <a:r>
              <a:rPr b="1" sz="2850" i="0" u="none">
                <a:solidFill>
                  <a:srgbClr val="D97706"/>
                </a:solidFill>
                <a:latin typeface="Playfair Display"/>
              </a:rPr>
              <a:t>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119628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943600"/>
            <a:ext cx="10668000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143625"/>
            <a:ext cx="18288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 Medium"/>
              </a:rPr>
              <a:t>B.Sc. Engineering Thesis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06100" y="6143625"/>
            <a:ext cx="723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Inter"/>
              </a:rPr>
              <a:t>End of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8125" y="2062162"/>
            <a:ext cx="599574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Playfair Display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881" y="3119437"/>
            <a:ext cx="571023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For your time and valuable attention.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550" y="3605212"/>
            <a:ext cx="4914900" cy="466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40881" y="4310062"/>
            <a:ext cx="571023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Inter"/>
              </a:rPr>
              <a:t>DEPARTMENT OF COMPUTER SCIENCE &amp; ENGINEERING • SOUTHERN UNIVERSITY BANGLADESH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3825" y="3757612"/>
            <a:ext cx="1838325" cy="1619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 Medium"/>
              </a:rPr>
              <a:t>md.arif.cse@southern.edu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2650" y="3757612"/>
            <a:ext cx="47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Inter Medium"/>
              </a:rP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775" y="3757612"/>
            <a:ext cx="2057400" cy="1619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 Medium"/>
              </a:rPr>
              <a:t>md.mainul.cse@southern.edu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825" y="3776662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3776662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